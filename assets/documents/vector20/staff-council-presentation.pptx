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ШНОУ «Вектор 20»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310896"/>
            <a:ext cx="3429000" cy="3429000"/>
          </a:xfrm>
          <a:prstGeom prst="ellipse">
            <a:avLst/>
          </a:prstGeom>
          <a:solidFill>
            <a:srgbClr val="2A7F82">
              <a:alpha val="62000"/>
            </a:srgbClr>
          </a:solidFill>
          <a:ln w="12700">
            <a:solidFill>
              <a:srgbClr val="2A7F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868680"/>
            <a:ext cx="2331720" cy="2331720"/>
          </a:xfrm>
          <a:prstGeom prst="ellipse">
            <a:avLst/>
          </a:prstGeom>
          <a:solidFill>
            <a:srgbClr val="5B9BD5">
              <a:alpha val="52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144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ВЕКТОР 20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94944" y="18470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A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Школьное научное общество учащихся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4944" y="2514600"/>
            <a:ext cx="6949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Рабочая система выявления, развития и сопровождения способностей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13232" y="3977640"/>
            <a:ext cx="4754880" cy="530352"/>
          </a:xfrm>
          <a:prstGeom prst="roundRect">
            <a:avLst>
              <a:gd name="adj" fmla="val 10345"/>
            </a:avLst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14800"/>
            <a:ext cx="4352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календарь конкурсов. Система роста.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94944" y="5806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МОУ СОШ №20 г. Твери  •  2026–2027 учебный год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0" y="53218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Замечать. Пробовать. Развивать. Создавать.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«ещё один конкурс» не создаёт систему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Проблема не в дефиците мероприятий, а в отсутствии устойчивого цикла сопровождения.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FF8F0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82296" cy="34290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7276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Случайность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039112"/>
            <a:ext cx="2999232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Замечают только уже успешных и удобных детей.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Участие зависит от личной инициативы одного учителя.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Результаты не превращаются в следующий шаг.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FF4F4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17320"/>
            <a:ext cx="82296" cy="3429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7276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Перегрузка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0288" y="2039112"/>
            <a:ext cx="2999232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Все письма и конкурсы пересылаются всем.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Наставничество держится на нескольких активистах.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 лимитов, сроков и механизма перераспределения.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429000" cy="3429000"/>
          </a:xfrm>
          <a:prstGeom prst="roundRect">
            <a:avLst>
              <a:gd name="adj" fmla="val 2133"/>
            </a:avLst>
          </a:prstGeom>
          <a:solidFill>
            <a:srgbClr val="F8F4FB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417320"/>
            <a:ext cx="82296" cy="3429000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7276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Сертификат вместо развития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039112"/>
            <a:ext cx="2999232" cy="2642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Считается число участий, а не качество продукта.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Ребёнок выполняет чужую тему ради отчёта.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оцениваются самостоятельность и рефлексия.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51560" y="5230368"/>
            <a:ext cx="10104120" cy="777240"/>
          </a:xfrm>
          <a:prstGeom prst="roundRect">
            <a:avLst>
              <a:gd name="adj" fmla="val 9412"/>
            </a:avLst>
          </a:prstGeom>
          <a:solidFill>
            <a:srgbClr val="EAF3F8"/>
          </a:solidFill>
          <a:ln w="17780">
            <a:solidFill>
              <a:srgbClr val="2A7F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5449824"/>
            <a:ext cx="9555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Новая единица результата: не «участие», а движение ребёнка — от интереса к самостоятельному продукту и следующему уровню задачи.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Архитектура «Вектора 20»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Один и тот же цикл применяется к олимпиадной, исследовательской, проектной и научно-коммуникационной активности.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96596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2093976"/>
            <a:ext cx="347472" cy="34747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21305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" y="208483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Сигнал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" y="2496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Факт, идея, интерес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36776" y="2304288"/>
            <a:ext cx="219456" cy="347472"/>
          </a:xfrm>
          <a:prstGeom prst="chevron">
            <a:avLst/>
          </a:prstGeom>
          <a:solidFill>
            <a:srgbClr val="7F8C8D">
              <a:alpha val="65000"/>
            </a:srgbClr>
          </a:solidFill>
          <a:ln w="12700">
            <a:solidFill>
              <a:srgbClr val="7F8C8D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1952" y="196596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A7F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093976"/>
            <a:ext cx="347472" cy="34747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1305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32304" y="208483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48256" y="2496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Короткая безопасная задача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18688" y="2304288"/>
            <a:ext cx="219456" cy="347472"/>
          </a:xfrm>
          <a:prstGeom prst="chevron">
            <a:avLst/>
          </a:prstGeom>
          <a:solidFill>
            <a:srgbClr val="7F8C8D">
              <a:alpha val="65000"/>
            </a:srgbClr>
          </a:solidFill>
          <a:ln w="12700">
            <a:solidFill>
              <a:srgbClr val="7F8C8D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3864" y="196596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5482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2093976"/>
            <a:ext cx="347472" cy="34747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21305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14216" y="208483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Профиль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30168" y="2496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Сильные стороны и условия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304288"/>
            <a:ext cx="219456" cy="347472"/>
          </a:xfrm>
          <a:prstGeom prst="chevron">
            <a:avLst/>
          </a:prstGeom>
          <a:solidFill>
            <a:srgbClr val="7F8C8D">
              <a:alpha val="65000"/>
            </a:srgbClr>
          </a:solidFill>
          <a:ln w="12700">
            <a:solidFill>
              <a:srgbClr val="7F8C8D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196596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F4E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75504" y="2093976"/>
            <a:ext cx="347472" cy="347472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21305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96128" y="208483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Маршрут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2496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Цель, продукт, наставник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82512" y="2304288"/>
            <a:ext cx="219456" cy="347472"/>
          </a:xfrm>
          <a:prstGeom prst="chevron">
            <a:avLst/>
          </a:prstGeom>
          <a:solidFill>
            <a:srgbClr val="7F8C8D">
              <a:alpha val="65000"/>
            </a:srgbClr>
          </a:solidFill>
          <a:ln w="12700">
            <a:solidFill>
              <a:srgbClr val="7F8C8D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47688" y="196596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8064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57416" y="2093976"/>
            <a:ext cx="347472" cy="347472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57416" y="21305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208483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93992" y="2496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 для реальной аудитории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64424" y="2304288"/>
            <a:ext cx="219456" cy="347472"/>
          </a:xfrm>
          <a:prstGeom prst="chevron">
            <a:avLst/>
          </a:prstGeom>
          <a:solidFill>
            <a:srgbClr val="7F8C8D">
              <a:alpha val="65000"/>
            </a:srgbClr>
          </a:solidFill>
          <a:ln w="12700">
            <a:solidFill>
              <a:srgbClr val="7F8C8D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1965960"/>
            <a:ext cx="12984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9328" y="2093976"/>
            <a:ext cx="347472" cy="34747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9328" y="21305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59952" y="2084832"/>
            <a:ext cx="676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Защита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75904" y="24963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Экспертиза и обратная связь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546336" y="2304288"/>
            <a:ext cx="219456" cy="347472"/>
          </a:xfrm>
          <a:prstGeom prst="chevron">
            <a:avLst/>
          </a:prstGeom>
          <a:solidFill>
            <a:srgbClr val="7F8C8D">
              <a:alpha val="65000"/>
            </a:srgbClr>
          </a:solidFill>
          <a:ln w="12700">
            <a:solidFill>
              <a:srgbClr val="7F8C8D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11512" y="1965960"/>
            <a:ext cx="144475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2A7F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21240" y="2093976"/>
            <a:ext cx="347472" cy="34747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21240" y="21305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341864" y="2084832"/>
            <a:ext cx="822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Следующий шаг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957816" y="2496312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Усложнение или смена траектории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51560" y="3977640"/>
            <a:ext cx="10058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C8D6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325880" y="4187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Ключевое управленческое правило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886200" y="4078224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Внешнее мероприятие включается в маршрут только тогда, когда оно помогает решить конкретную задачу развития. Оно не является основанием для создания маршрута само по себе.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1325880" y="5230368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Цикл может завершиться продуктом, осознанной сменой направления или отказом без санкций — каждый вариант даёт данные для следующего решения.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Четыре направления развития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Ребёнок выбирает не «предметный кружок», а тип интеллектуальной деятельности; направления можно сочетать.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3F8FC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25880"/>
            <a:ext cx="82296" cy="40233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8132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ИССЛЕДУЮ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5256" y="1947672"/>
            <a:ext cx="2176272" cy="3236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Вопрос и гипотеза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Данные и методы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Выводы и ограничения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Продукт: исследование, статья, постер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56432" y="132588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1FAF8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56432" y="1325880"/>
            <a:ext cx="82296" cy="4023360"/>
          </a:xfrm>
          <a:prstGeom prst="rect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48132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ПРОЕКТИРУЮ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75888" y="1947672"/>
            <a:ext cx="2176272" cy="3236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Проблема пользователя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Замысел и прототип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Тестирование и улучшение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Продукт: модель, сервис, устройство, решение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35624" y="132588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8F0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35624" y="1325880"/>
            <a:ext cx="82296" cy="40233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48132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РЕШАЮ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1947672"/>
            <a:ext cx="2176272" cy="3236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Сложная задача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Стратегия и тренировка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Разбор ошибок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Продукт: решение, алгоритм, результат соревнования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06256" y="132588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8F4FB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06256" y="1325880"/>
            <a:ext cx="82296" cy="4023360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7424" y="1481328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064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ОБЪЯСНЯЮ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25712" y="1947672"/>
            <a:ext cx="2176272" cy="3236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Научная коммуникация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Обучение сверстников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Визуализация знания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Продукт: лекция, курс, медиаматериал, экскурсия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0" y="5559552"/>
            <a:ext cx="3977640" cy="502920"/>
          </a:xfrm>
          <a:prstGeom prst="roundRect">
            <a:avLst>
              <a:gd name="adj" fmla="val 10909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5696712"/>
            <a:ext cx="3639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СОЧЕТАНИЕ — отдельный допустимый профиль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Возрастная логика: одна система — разные задачи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Требования к ребёнку возрастают постепенно; ранний этап не превращается в уменьшенную копию взрослой конференции.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423160" cy="4343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20320">
            <a:solidFill>
              <a:srgbClr val="5B9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1572768"/>
            <a:ext cx="914400" cy="91440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89888" y="1837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1–4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Первые открытия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" y="32735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Задача этапа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575304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Увидеть вопрос, попробовать действие, рассказать о наблюдении.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44439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Типичный результат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727448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Мини-опыт, коллекция, модель, устное объяснение.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3474720" y="1325880"/>
            <a:ext cx="2423160" cy="4343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20320">
            <a:solidFill>
              <a:srgbClr val="2A7F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1572768"/>
            <a:ext cx="914400" cy="914400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1837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5–6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675888" y="267004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Проба сил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94176" y="32735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Задача этапа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03320" y="3575304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Попробовать разные типы задач и научиться выбирать.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94176" y="44439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Типичный результат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03320" y="4727448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Короткий проект или исследовательская проба.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309360" y="1325880"/>
            <a:ext cx="2423160" cy="4343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20320">
            <a:solidFill>
              <a:srgbClr val="C55A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9168" y="1572768"/>
            <a:ext cx="914400" cy="9144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837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7–9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510528" y="267004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Выбор траектории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28816" y="32735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Задача этапа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37960" y="3575304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Освоить метод, выдержать цикл и получить внешнюю обратную связь.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28816" y="44439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Типичный результат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37960" y="4727448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Полноценный продукт и индивидуальный маршрут.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9144000" y="1325880"/>
            <a:ext cx="2423160" cy="4343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20320">
            <a:solidFill>
              <a:srgbClr val="8064A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93808" y="1572768"/>
            <a:ext cx="914400" cy="914400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93808" y="1837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10–11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345168" y="2670048"/>
            <a:ext cx="2020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064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Авторство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363456" y="327355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Задача этапа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72600" y="3575304"/>
            <a:ext cx="1947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Самостоятельно формулировать проблему, отвечать за качество и этику.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63456" y="444398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Типичный результат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372600" y="4727448"/>
            <a:ext cx="1947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Исследование, инженерное решение, публикация, наставничество.</a:t>
            </a:r>
            <a:endParaRPr lang="en-US" sz="1110" dirty="0"/>
          </a:p>
        </p:txBody>
      </p:sp>
      <p:sp>
        <p:nvSpPr>
          <p:cNvPr id="36" name="Text 34"/>
          <p:cNvSpPr/>
          <p:nvPr/>
        </p:nvSpPr>
        <p:spPr>
          <a:xfrm>
            <a:off x="1325880" y="5879592"/>
            <a:ext cx="9555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Для инженерных 5–6 классов: не менее одной качественной образовательной пробы в каждом полугодии с фиксацией выбора ребёнка.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 ребёнок входит в систему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Оценки и уже полученные дипломы — только часть данных. Вход открыт на протяжении всего года.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08760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13075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Педагогическое наблюдение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645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Конкретный факт: вопрос, способ решения, устойчивый интерес.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749808" y="2249424"/>
            <a:ext cx="438912" cy="43891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59152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53312" y="215798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Открытая проба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53312" y="24963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Ребёнок проявил способ действия в новой задаче.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49808" y="3099816"/>
            <a:ext cx="438912" cy="43891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09544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53312" y="30083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Самовыдвижение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3467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Ученик предлагает тему, продукт или проблему.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49808" y="3950208"/>
            <a:ext cx="438912" cy="438912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5993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3312" y="3858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Родительский сигнал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53312" y="419709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Семья сообщает об устойчивой внешкольной активности.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49808" y="4800600"/>
            <a:ext cx="438912" cy="43891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91032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53312" y="47091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Портфолио / внешний результат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50474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Есть продукт, выступление или доказательство практики.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989320" y="1353312"/>
            <a:ext cx="5413248" cy="1938528"/>
          </a:xfrm>
          <a:prstGeom prst="roundRect">
            <a:avLst>
              <a:gd name="adj" fmla="val 3774"/>
            </a:avLst>
          </a:prstGeom>
          <a:solidFill>
            <a:srgbClr val="F2FAF9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9320" y="1353312"/>
            <a:ext cx="82296" cy="1938528"/>
          </a:xfrm>
          <a:prstGeom prst="rect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15087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Сначала сигнал — потом вывод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08776" y="1975104"/>
            <a:ext cx="4983480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Фиксируется наблюдаемый факт, а не характеристика личности.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Сигнал проверяется короткой пробой или вторым источником данных.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Профиль описывает условия развития, а не присваивает ярлык.</a:t>
            </a:r>
            <a:endParaRPr lang="en-US" sz="1270" dirty="0"/>
          </a:p>
        </p:txBody>
      </p:sp>
      <p:sp>
        <p:nvSpPr>
          <p:cNvPr id="28" name="Shape 26"/>
          <p:cNvSpPr/>
          <p:nvPr/>
        </p:nvSpPr>
        <p:spPr>
          <a:xfrm>
            <a:off x="5989320" y="3547872"/>
            <a:ext cx="5413248" cy="1938528"/>
          </a:xfrm>
          <a:prstGeom prst="roundRect">
            <a:avLst>
              <a:gd name="adj" fmla="val 3774"/>
            </a:avLst>
          </a:prstGeom>
          <a:solidFill>
            <a:srgbClr val="FFF5F5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3547872"/>
            <a:ext cx="82296" cy="19385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3703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Запрещённая практика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208776" y="4169664"/>
            <a:ext cx="4983480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Публичные списки «одарённых» и рейтинги детей.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Отбор только по отметкам, удобству или лояльности семьи.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Автоматическое направление на все мероприятия подряд.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6199632" y="571500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Решение о маршруте принимается на основании совокупности данных и согласия ребёнка.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Индивидуальный маршрут: минимальный рабочий формат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Маршрут — не объёмный план на год, а короткий управляемый цикл с понятным продуктом.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972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20320">
            <a:solidFill>
              <a:srgbClr val="2A7F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72768"/>
            <a:ext cx="384048" cy="38404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733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426464" y="15544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развития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26464" y="18470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Какое действие ребёнок должен научиться выполнять лучше?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914400" y="2505456"/>
            <a:ext cx="384048" cy="38404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060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426464" y="24871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Продукт и аудитория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26464" y="277977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будет создано и кому это должно быть полезно?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14400" y="3438144"/>
            <a:ext cx="384048" cy="38404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387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26464" y="34198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Наставник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26464" y="37124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Кто обеспечивает регулярную обратную связь?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4400" y="4370832"/>
            <a:ext cx="384048" cy="38404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714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26464" y="43525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Срок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26464" y="46451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Обычно 6–16 недель; годовой маршрут делится на циклы.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27648" y="1572768"/>
            <a:ext cx="384048" cy="384048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16733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39712" y="15544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Контрольные точки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39712" y="18470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 в 2–4 недели: факт, решение, следующий шаг.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327648" y="2505456"/>
            <a:ext cx="384048" cy="384048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6060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39712" y="248716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Нагрузка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39712" y="277977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Реалистичный предел с учётом учёбы и здоровья.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327648" y="3438144"/>
            <a:ext cx="384048" cy="384048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353872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39712" y="34198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Ресурсы и помощь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39712" y="37124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Оборудование, эксперты, источники, допустимое применение ИИ.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327648" y="4370832"/>
            <a:ext cx="384048" cy="384048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447141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39712" y="435254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Следующий шаг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839712" y="46451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Усложнить, представить, внедрить, сменить тему или завершить.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1463040" y="5833872"/>
            <a:ext cx="9235440" cy="438912"/>
          </a:xfrm>
          <a:prstGeom prst="roundRect">
            <a:avLst>
              <a:gd name="adj" fmla="val 10417"/>
            </a:avLst>
          </a:prstGeom>
          <a:solidFill>
            <a:srgbClr val="EAF3F8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595274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Контрольная точка не должна превращаться в отчёт: 10–15 минут, демонстрация факта, одно решение и один следующий шаг.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Модель участия педагогов: обязательный минимум и ограниченное наставничество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перестаёт зависеть от героизма отдельных учителей, но не превращает каждого педагога в научного руководителя.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5321808" cy="3337560"/>
          </a:xfrm>
          <a:prstGeom prst="roundRect">
            <a:avLst>
              <a:gd name="adj" fmla="val 2192"/>
            </a:avLst>
          </a:prstGeom>
          <a:solidFill>
            <a:srgbClr val="F3F8FC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98448"/>
            <a:ext cx="82296" cy="33375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538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Обязательный минимум — для всех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05256" y="1920240"/>
            <a:ext cx="4892040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Два цикла наблюдения и выдвижения сигналов в год.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менее одной предметной пробы в полугодии либо согласованная системная роль.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Короткая фиксация результата в единой форме.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Направление ребёнка к координатору, если нужна длительная поддержка.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199632" y="1298448"/>
            <a:ext cx="5321808" cy="3337560"/>
          </a:xfrm>
          <a:prstGeom prst="roundRect">
            <a:avLst>
              <a:gd name="adj" fmla="val 2192"/>
            </a:avLst>
          </a:prstGeom>
          <a:solidFill>
            <a:srgbClr val="F1FAF8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298448"/>
            <a:ext cx="82296" cy="3337560"/>
          </a:xfrm>
          <a:prstGeom prst="rect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538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Пул наставников — по готовности и компетенции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19088" y="1920240"/>
            <a:ext cx="4892040" cy="2551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более трёх индивидуальных активных маршрутов одновременно или одной команды.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Возможны сонаставничество и внешняя экспертиза.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Право вернуть маршрут координатору при перегрузке или несоответствии темы.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 оценивается по качеству сопровождения, а не по числу дипломов.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68680" y="4965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Административная поддержка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5330952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5449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Шаблоны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09928" y="5404104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единые формы вместо произвольных отчётов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5330952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5449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Время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53128" y="5404104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заранее установленный график контрольных точек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5330952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5449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Эксперты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96328" y="5404104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межпредметные и внешние консультации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98280" y="5330952"/>
            <a:ext cx="2487168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8008" y="5449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Признание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39528" y="5404104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учёт качественного наставничества в локальной системе стимулирования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Управление без лишней бюрократии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Ответственность распределяется по функциям; координатор не становится единственным исполнителем.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251960" y="1188720"/>
            <a:ext cx="3657600" cy="685800"/>
          </a:xfrm>
          <a:prstGeom prst="roundRect">
            <a:avLst>
              <a:gd name="adj" fmla="val 9333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26280" y="139903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Директор школы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80760" y="1874520"/>
            <a:ext cx="0" cy="41148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2286000"/>
            <a:ext cx="5669280" cy="841248"/>
          </a:xfrm>
          <a:prstGeom prst="roundRect">
            <a:avLst>
              <a:gd name="adj" fmla="val 7609"/>
            </a:avLst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487168"/>
            <a:ext cx="5120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Совет ШНОУ «Вектор 20»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0" y="27980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F3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решения по маршрутам, ресурсам, спорным случаям и итогам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3127248"/>
            <a:ext cx="0" cy="411480"/>
          </a:xfrm>
          <a:prstGeom prst="line">
            <a:avLst/>
          </a:prstGeom>
          <a:noFill/>
          <a:ln w="19050">
            <a:solidFill>
              <a:srgbClr val="7F8C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3538728"/>
            <a:ext cx="4480560" cy="749808"/>
          </a:xfrm>
          <a:prstGeom prst="roundRect">
            <a:avLst>
              <a:gd name="adj" fmla="val 8537"/>
            </a:avLst>
          </a:prstGeom>
          <a:solidFill>
            <a:srgbClr val="EAF3F8"/>
          </a:solidFill>
          <a:ln w="17780">
            <a:solidFill>
              <a:srgbClr val="2A7F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36850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Координатор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77840" y="3675888"/>
            <a:ext cx="2423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единый реестр, календарь, распределение, мониторинг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4617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 и учителя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40864" y="46177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наблюдают, проводят пробы, передают сигналы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658368" y="5148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Наставники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40864" y="51480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ведут маршрут и контрольные точки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58368" y="5678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Эксперты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340864" y="56784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дают предметную обратную связь без постоянного сопровождения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428232" y="4617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Классные руководители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10728" y="46177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координируют нагрузку и связь с семьёй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6428232" y="5148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Психолог / библиотекарь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10728" y="51480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помогают с условиями, ресурсами и безопасностью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428232" y="5678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Ученик и семья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110728" y="567842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выбирают, согласуют нагрузку и отвечают за договорённости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2971800" y="6172200"/>
            <a:ext cx="6263640" cy="310896"/>
          </a:xfrm>
          <a:prstGeom prst="roundRect">
            <a:avLst>
              <a:gd name="adj" fmla="val 20588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81528" y="6213348"/>
            <a:ext cx="6044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Совет: 30 минут ежемесячно • расширенный анализ — один раз в четверть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Банк возможностей: фильтр вместо бесконтрольной рассылки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Каждое мероприятие оценивается до того, как школа рекомендует его детям и педагогам.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критериев × 0–2 балла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01752" cy="30175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56232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5568" y="1773936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Соответствие маршрутам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301752" cy="30175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32304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5568" y="235000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Надёжность организатора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685800" y="2935224"/>
            <a:ext cx="301752" cy="30175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08376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" y="2926080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Развивающая ценность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85800" y="3511296"/>
            <a:ext cx="301752" cy="30175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84448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" y="350215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Прозрачность правил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3977640" y="1783080"/>
            <a:ext cx="301752" cy="30175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1856232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07408" y="1773936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Реалистичная нагрузка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3977640" y="2359152"/>
            <a:ext cx="301752" cy="30175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2432304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07408" y="2350008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Безопасность и данные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3977640" y="2935224"/>
            <a:ext cx="301752" cy="30175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3008376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07408" y="2926080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Финансовая доступность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3977640" y="3511296"/>
            <a:ext cx="301752" cy="301752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77640" y="3584448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07408" y="3502152"/>
            <a:ext cx="2743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Понятный следующий шаг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7269480" y="1298448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EEF7EA"/>
          </a:solidFill>
          <a:ln w="13970">
            <a:solidFill>
              <a:srgbClr val="A9D1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0648" y="1453896"/>
            <a:ext cx="850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7488936" y="1920240"/>
            <a:ext cx="804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13–16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баллов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Рекомендовать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668512" y="1298448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FFF6E5"/>
          </a:solidFill>
          <a:ln w="13970">
            <a:solidFill>
              <a:srgbClr val="F4B18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1453896"/>
            <a:ext cx="850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8887968" y="1920240"/>
            <a:ext cx="804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9–12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баллов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Адресно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067544" y="1298448"/>
            <a:ext cx="1234440" cy="1920240"/>
          </a:xfrm>
          <a:prstGeom prst="roundRect">
            <a:avLst>
              <a:gd name="adj" fmla="val 5926"/>
            </a:avLst>
          </a:prstGeom>
          <a:solidFill>
            <a:srgbClr val="FDEEEE"/>
          </a:solidFill>
          <a:ln w="13970">
            <a:solidFill>
              <a:srgbClr val="E6A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68712" y="1453896"/>
            <a:ext cx="850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2700" dirty="0"/>
          </a:p>
        </p:txBody>
      </p:sp>
      <p:sp>
        <p:nvSpPr>
          <p:cNvPr id="37" name="Text 35"/>
          <p:cNvSpPr/>
          <p:nvPr/>
        </p:nvSpPr>
        <p:spPr>
          <a:xfrm>
            <a:off x="10287000" y="1920240"/>
            <a:ext cx="804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0–8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баллов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продвигать</a:t>
            </a:r>
            <a:endParaRPr lang="en-US" sz="1180" dirty="0"/>
          </a:p>
        </p:txBody>
      </p:sp>
      <p:sp>
        <p:nvSpPr>
          <p:cNvPr id="38" name="Text 36"/>
          <p:cNvSpPr/>
          <p:nvPr/>
        </p:nvSpPr>
        <p:spPr>
          <a:xfrm>
            <a:off x="685800" y="44074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Приоритеты внутри банка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" y="4828032"/>
            <a:ext cx="254203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2A7F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" y="4974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80160" y="4937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Институциональный календарь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обязательные или утверждённые школьные/муниципальные процедуры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83864" y="4828032"/>
            <a:ext cx="254203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7780">
            <a:solidFill>
              <a:srgbClr val="2A7F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93592" y="4974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078224" y="4937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Маршрутный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11880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мероприятие точно соответствует действующему маршруту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81928" y="4828032"/>
            <a:ext cx="254203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91656" y="4974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76288" y="4937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Развивающий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9944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качественная проба, интенсив, экспертная площадка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079992" y="4828032"/>
            <a:ext cx="2542032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89720" y="4974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674352" y="4937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Информационный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208008" y="5303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сообщается без административного продвижения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Годовой цикл 2026–2027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работает непрерывно, но имеет несколько понятных управленческих окон.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2788920"/>
            <a:ext cx="10561320" cy="0"/>
          </a:xfrm>
          <a:prstGeom prst="line">
            <a:avLst/>
          </a:prstGeom>
          <a:noFill/>
          <a:ln w="38100">
            <a:solidFill>
              <a:srgbClr val="C8D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459736"/>
            <a:ext cx="548640" cy="548640"/>
          </a:xfrm>
          <a:prstGeom prst="ellipse">
            <a:avLst/>
          </a:prstGeom>
          <a:solidFill>
            <a:srgbClr val="1F4E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1700784" cy="1005840"/>
          </a:xfrm>
          <a:prstGeom prst="roundRect">
            <a:avLst>
              <a:gd name="adj" fmla="val 5455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38988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АВГУСТ — СЕНТЯБРЬ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7512" y="1700784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Запуск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3273552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651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4787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Приказ, совет, карта ресурсов, педсовет, стартовая коммуникация.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2980944" y="2459736"/>
            <a:ext cx="548640" cy="548640"/>
          </a:xfrm>
          <a:prstGeom prst="ellipse">
            <a:avLst/>
          </a:prstGeom>
          <a:solidFill>
            <a:srgbClr val="5B9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1234440"/>
            <a:ext cx="1700784" cy="1005840"/>
          </a:xfrm>
          <a:prstGeom prst="roundRect">
            <a:avLst>
              <a:gd name="adj" fmla="val 5455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38988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СЕНТЯБРЬ — НОЯБРЬ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05456" y="1700784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Сигналы и пробы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04872" y="3273552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651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354787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Наблюдение, самовыдвижение, открытые задачи, первичная диагностика.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818888" y="2459736"/>
            <a:ext cx="548640" cy="548640"/>
          </a:xfrm>
          <a:prstGeom prst="ellipse">
            <a:avLst/>
          </a:prstGeom>
          <a:solidFill>
            <a:srgbClr val="2A7F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42816" y="1234440"/>
            <a:ext cx="1700784" cy="1005840"/>
          </a:xfrm>
          <a:prstGeom prst="roundRect">
            <a:avLst>
              <a:gd name="adj" fmla="val 5455"/>
            </a:avLst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38988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НОЯБРЬ — ЯНВАРЬ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43400" y="1700784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Маршруты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42816" y="3273552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6510">
            <a:solidFill>
              <a:srgbClr val="2A7F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07408" y="354787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Назначение наставников, цели, продукты, первые контрольные точки.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656832" y="2459736"/>
            <a:ext cx="548640" cy="548640"/>
          </a:xfrm>
          <a:prstGeom prst="ellipse">
            <a:avLst/>
          </a:prstGeom>
          <a:solidFill>
            <a:srgbClr val="C55A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1234440"/>
            <a:ext cx="1700784" cy="1005840"/>
          </a:xfrm>
          <a:prstGeom prst="roundRect">
            <a:avLst>
              <a:gd name="adj" fmla="val 5455"/>
            </a:avLst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38988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ЯНВАРЬ — ФЕВРАЛЬ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81344" y="1700784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Пересмотр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80760" y="3273552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6510">
            <a:solidFill>
              <a:srgbClr val="C55A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354787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Коррекция нагрузки, смена темы, подключение экспертов.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494776" y="2459736"/>
            <a:ext cx="548640" cy="548640"/>
          </a:xfrm>
          <a:prstGeom prst="ellipse">
            <a:avLst/>
          </a:prstGeom>
          <a:solidFill>
            <a:srgbClr val="8064A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18704" y="1234440"/>
            <a:ext cx="1700784" cy="1005840"/>
          </a:xfrm>
          <a:prstGeom prst="roundRect">
            <a:avLst>
              <a:gd name="adj" fmla="val 5455"/>
            </a:avLst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138988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МАРТ — АПРЕЛЬ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19288" y="1700784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Конференция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18704" y="3273552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6510">
            <a:solidFill>
              <a:srgbClr val="8064A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83296" y="354787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Предзащита, секции, ярмарка, экспертная обратная связь.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10332720" y="2459736"/>
            <a:ext cx="548640" cy="548640"/>
          </a:xfrm>
          <a:prstGeom prst="ellipse">
            <a:avLst/>
          </a:prstGeom>
          <a:solidFill>
            <a:srgbClr val="5482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56648" y="1234440"/>
            <a:ext cx="1700784" cy="1005840"/>
          </a:xfrm>
          <a:prstGeom prst="roundRect">
            <a:avLst>
              <a:gd name="adj" fmla="val 5455"/>
            </a:avLst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57232" y="1389888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АПРЕЛЬ — ИЮНЬ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857232" y="1700784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Следующий шаг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756648" y="3273552"/>
            <a:ext cx="17007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6510">
            <a:solidFill>
              <a:srgbClr val="5482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21240" y="354787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Внешние площадки, внедрение, публикации, анализ и планирование.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1554480" y="5257800"/>
            <a:ext cx="9098280" cy="713232"/>
          </a:xfrm>
          <a:prstGeom prst="roundRect">
            <a:avLst>
              <a:gd name="adj" fmla="val 6410"/>
            </a:avLst>
          </a:prstGeom>
          <a:solidFill>
            <a:srgbClr val="EAF3F8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5468112"/>
            <a:ext cx="8549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Постоянно в течение года: обновление банка возможностей • новые сигналы • контроль сроков • закрытие формальных активностей • публичное признание качественных продуктов.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Школьная конференция «Вектор»: не финал, а точка экспертизы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Единое школьное событие собирает разные типы продуктов и даёт каждому участнику следующий шаг.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98448"/>
            <a:ext cx="82296" cy="18288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5389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1–4 классы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5256" y="1920240"/>
            <a:ext cx="281635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Ярмарка первых открытий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Короткое объяснение без формального доклада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Фокус на вопросе и наблюдении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4087368" y="1298448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1FAF8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87368" y="1298448"/>
            <a:ext cx="82296" cy="1828800"/>
          </a:xfrm>
          <a:prstGeom prst="rect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8536" y="145389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5–9 классы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06824" y="1920240"/>
            <a:ext cx="281635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Секции по направлениям, а не только предметам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Стенд, прототип, демонстрация, доклад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Обязательная рефлексия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7488936" y="1298448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F8F4FB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88936" y="1298448"/>
            <a:ext cx="82296" cy="1828800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0104" y="1453896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10–11 классы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08392" y="1920240"/>
            <a:ext cx="3547872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Авторская защита и ответы на вопросы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Ограничения результата и этические решения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Возможность стать экспертом или наставником младших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04088" y="3456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Единая экспертная рубрика — 24 балла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04088" y="3913632"/>
            <a:ext cx="3246120" cy="429768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032504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Проблема и значимость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3374136" y="4014216"/>
            <a:ext cx="4389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" y="4480560"/>
            <a:ext cx="3246120" cy="429768"/>
          </a:xfrm>
          <a:prstGeom prst="roundRect">
            <a:avLst>
              <a:gd name="adj" fmla="val 6383"/>
            </a:avLst>
          </a:prstGeom>
          <a:solidFill>
            <a:srgbClr val="F3F8FA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459943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Методы и обоснование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3374136" y="4581144"/>
            <a:ext cx="4389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" y="5047488"/>
            <a:ext cx="3246120" cy="429768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5166360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 / продукт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3374136" y="5148072"/>
            <a:ext cx="4389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24528" y="3913632"/>
            <a:ext cx="3246120" cy="429768"/>
          </a:xfrm>
          <a:prstGeom prst="roundRect">
            <a:avLst>
              <a:gd name="adj" fmla="val 6383"/>
            </a:avLst>
          </a:prstGeom>
          <a:solidFill>
            <a:srgbClr val="F3F8FA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52544" y="4032504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Самостоятельность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6894576" y="4014216"/>
            <a:ext cx="4389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24528" y="4480560"/>
            <a:ext cx="3246120" cy="429768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52544" y="459943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Представление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6894576" y="4581144"/>
            <a:ext cx="4389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0–4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24528" y="5047488"/>
            <a:ext cx="3246120" cy="429768"/>
          </a:xfrm>
          <a:prstGeom prst="roundRect">
            <a:avLst>
              <a:gd name="adj" fmla="val 6383"/>
            </a:avLst>
          </a:prstGeom>
          <a:solidFill>
            <a:srgbClr val="F3F8FA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52544" y="5166360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Рефлексия и следующий шаг</a:t>
            </a:r>
            <a:endParaRPr lang="en-US" sz="1070" dirty="0"/>
          </a:p>
        </p:txBody>
      </p:sp>
      <p:sp>
        <p:nvSpPr>
          <p:cNvPr id="34" name="Text 32"/>
          <p:cNvSpPr/>
          <p:nvPr/>
        </p:nvSpPr>
        <p:spPr>
          <a:xfrm>
            <a:off x="6894576" y="5148072"/>
            <a:ext cx="4389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0–4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16368" y="3493008"/>
            <a:ext cx="3931920" cy="2240280"/>
          </a:xfrm>
          <a:prstGeom prst="roundRect">
            <a:avLst>
              <a:gd name="adj" fmla="val 3265"/>
            </a:avLst>
          </a:prstGeom>
          <a:solidFill>
            <a:srgbClr val="FFF8F0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16368" y="3493008"/>
            <a:ext cx="82296" cy="22402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17536" y="364845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получает ребёнок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735824" y="4114800"/>
            <a:ext cx="3502152" cy="1453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место в общем рейтинге, а профильную обратную связь.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Рекомендацию: доработать, внедрить, опубликовать, выйти на внешнюю площадку или сменить задачу.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Подтверждение собственной роли в продукте, включая декларацию использования ИИ и помощи взрослых.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Мотивация: не только грамота и не только деньги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Система должна отвечать на вопрос каждого участника: «зачем мне это и что изменится после результата?»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3493008" cy="4315968"/>
          </a:xfrm>
          <a:prstGeom prst="roundRect">
            <a:avLst>
              <a:gd name="adj" fmla="val 2094"/>
            </a:avLst>
          </a:prstGeom>
          <a:solidFill>
            <a:srgbClr val="F3F8FC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98448"/>
            <a:ext cx="82296" cy="431596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538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Ученик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1920240"/>
            <a:ext cx="3063240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Право выбора темы, формата и допустимой нагрузки.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Реальная аудитория: школа, город, партнёр, младшие ученики.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Роли: автор, исследователь, инженер, эксперт, наставник, коммуникатор.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Портфолио продуктов, а не папка сертификатов.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Публичное признание конкретного вклада и прогресса.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298448"/>
            <a:ext cx="3493008" cy="4315968"/>
          </a:xfrm>
          <a:prstGeom prst="roundRect">
            <a:avLst>
              <a:gd name="adj" fmla="val 2094"/>
            </a:avLst>
          </a:prstGeom>
          <a:solidFill>
            <a:srgbClr val="F1FAF8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298448"/>
            <a:ext cx="82296" cy="4315968"/>
          </a:xfrm>
          <a:prstGeom prst="rect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538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Педагог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62856" y="1920240"/>
            <a:ext cx="3063240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Понятный предел нагрузки и право на перераспределение.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Готовые формы, экспертная помощь и сонаставничество.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Материалы маршрута как доказательства методического результата.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Представление лучших практик на педсовете и методических площадках.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Стимулирование — за качество процесса и продукта по локальному положению.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28432" y="1298448"/>
            <a:ext cx="3493008" cy="4315968"/>
          </a:xfrm>
          <a:prstGeom prst="roundRect">
            <a:avLst>
              <a:gd name="adj" fmla="val 2094"/>
            </a:avLst>
          </a:prstGeom>
          <a:solidFill>
            <a:srgbClr val="F8F4FB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28432" y="1298448"/>
            <a:ext cx="82296" cy="4315968"/>
          </a:xfrm>
          <a:prstGeom prst="rect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4538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Семья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47888" y="1920240"/>
            <a:ext cx="3063240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Предсказуемый график и согласованная нагрузка.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Понимание границ помощи взрослых.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Отдельное согласие на публикацию и внешнее участие.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Доступ к краткой информации о прогрессе и следующем шаге.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Возможность быть ресурсом, но не автором продукта ребёнка.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589788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Запрещённая мотивационная стратегия: административно требовать диплом от каждого маршрута.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Этика, безопасность, персональные данные и искусственный интеллект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Качество системы определяется не только результатами, но и тем, как они получены.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32180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1F4E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572768"/>
            <a:ext cx="658368" cy="65836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824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09928" y="15361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Нет публичного ярлыка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09928" y="195681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Внутренний реестр ограниченного доступа; в публичных материалах — только достижения и продукты с необходимыми основаниями.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199632" y="1325880"/>
            <a:ext cx="532180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2A7F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72768"/>
            <a:ext cx="658368" cy="658368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824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23760" y="15361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Отдельные основания для публикации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95681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Участие во внутреннем маршруте не означает автоматического согласия на фото, видео, публикацию работы или передачу данных внешнему организатору.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532180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6968" y="3401568"/>
            <a:ext cx="658368" cy="658368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112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09928" y="33649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Право остановиться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09928" y="378561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Ребёнок может сменить тему, формат, наставника или завершить маршрут без публичного «провала» и дисциплинарных последствий.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6199632" y="3154680"/>
            <a:ext cx="5321808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8064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401568"/>
            <a:ext cx="658368" cy="658368"/>
          </a:xfrm>
          <a:prstGeom prst="ellipse">
            <a:avLst/>
          </a:prstGeom>
          <a:solidFill>
            <a:srgbClr val="8064A2"/>
          </a:solidFill>
          <a:ln w="12700">
            <a:solidFill>
              <a:srgbClr val="8064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112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23760" y="33649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064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Декларация помощи и ИИ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78561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Фиксируются применённые инструменты, помощь взрослых и вклад каждого участника. Эксперт оценивает самостоятельность, а не запрещает технологию автоматически.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1508760" y="5212080"/>
            <a:ext cx="9144000" cy="685800"/>
          </a:xfrm>
          <a:prstGeom prst="roundRect">
            <a:avLst>
              <a:gd name="adj" fmla="val 8000"/>
            </a:avLst>
          </a:prstGeom>
          <a:solidFill>
            <a:srgbClr val="FFF8E7"/>
          </a:solidFill>
          <a:ln w="15240">
            <a:solidFill>
              <a:srgbClr val="E5C0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54223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Перед включением внешнего мероприятия проверяются правила, возрастные ограничения, стоимость, обработка данных, требования к публикации и возможность отозвать участие.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Целевые показатели первого года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Это ориентиры для настройки системы, а не основания для наказания педагогов или детей.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2423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08176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≥60%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5528" y="209397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обучающихся охвачены хотя бы одной качественной пробой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3255264" y="1298448"/>
            <a:ext cx="2423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408176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92424" y="209397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учеников инженерных 5–6 классов прошли пробу в каждом полугодии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852160" y="1298448"/>
            <a:ext cx="2423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1888" y="1408176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15–20%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89320" y="209397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обучающихся имеют подтверждённый профиль развития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449056" y="1298448"/>
            <a:ext cx="2423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58784" y="1408176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064A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8–12%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86216" y="209397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обучающихся включены в активные индивидуальные или командные маршруты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58368" y="3127248"/>
            <a:ext cx="2423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236976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4823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≥70%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95528" y="392277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маршрутов завершены продуктом или обоснованным итоговым решением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255264" y="3127248"/>
            <a:ext cx="2423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3236976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≥75%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392424" y="392277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участников положительно оценивают опыт и понимают следующий шаг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5852160" y="3127248"/>
            <a:ext cx="2423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3236976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≥80%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89320" y="392277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предметных областей представлены пробами или экспертами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8449056" y="3127248"/>
            <a:ext cx="2423160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8784" y="3236976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586216" y="3922776"/>
            <a:ext cx="2148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неразрешённых случаев перегрузки наставника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1325880" y="5193792"/>
            <a:ext cx="9509760" cy="64008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 w="12700">
            <a:solidFill>
              <a:srgbClr val="C8D6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5394960"/>
            <a:ext cx="8961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Главный индикатор зрелости — не рост общего числа конкурсов, а увеличение доли детей, которые создают самостоятельный продукт и получают осмысленный следующий шаг.</a:t>
            </a:r>
            <a:endParaRPr lang="en-US" sz="13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Первые 90 дней: пилот без перегрузки школы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Запуск идёт поэтапно; полноценная система не требует одновременного открытия десятков кружков.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154680" cy="42519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0320">
            <a:solidFill>
              <a:srgbClr val="1F4E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1572768"/>
            <a:ext cx="868680" cy="868680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828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 25 августа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3255264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Утвердить положение и приказ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Назначить координатора и совет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Собрать реестр наставников и ресурсов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Утвердить календарь обязательных процедур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233672" y="1325880"/>
            <a:ext cx="3154680" cy="42519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0320">
            <a:solidFill>
              <a:srgbClr val="2A7F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6672" y="1572768"/>
            <a:ext cx="868680" cy="868680"/>
          </a:xfrm>
          <a:prstGeom prst="ellipse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76672" y="1828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62272" y="262432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1–15 сентября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1144" y="3255264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Представить систему педагогам, детям и семьям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Открыть самовыдвижение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Запустить первые предметные пробы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Начать регистрацию сигналов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7781544" y="1325880"/>
            <a:ext cx="3154680" cy="42519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0320">
            <a:solidFill>
              <a:srgbClr val="C55A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1572768"/>
            <a:ext cx="868680" cy="86868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24544" y="1828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10144" y="2624328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сентября — 31 октября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29016" y="3255264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Подтвердить первые профили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Собрать 15–30 пилотных маршрутов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Провести первые контрольные точки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Проверить реальную нагрузку наставников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1234440" y="5797296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Масштабирование — только после октябрьского анализа: что реально работает, где возникла лишняя отчётность и какие предметные области не представлены.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утверждает педагогический совет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869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Комплект подготовлен так, чтобы после заполнения реквизитов система могла быть запущена приказом.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2FAF9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61872"/>
            <a:ext cx="82296" cy="4434840"/>
          </a:xfrm>
          <a:prstGeom prst="rect">
            <a:avLst/>
          </a:prstGeom>
          <a:solidFill>
            <a:srgbClr val="2A7F82"/>
          </a:solidFill>
          <a:ln w="12700">
            <a:solidFill>
              <a:srgbClr val="2A7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17320"/>
            <a:ext cx="4873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Комплект документов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1883664"/>
            <a:ext cx="4828032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Концепция и навигатор по модели.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Положение о ШНОУ и проект приказа.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Порядок выявления и сопровождения.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Положение о наставничестве.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Положение о конференции «Вектор».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Регламент банка возможностей.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Годовой план работы.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Материалы для педагогов, детей и родителей.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 унифицированных форм и электронный реестр.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Проект критериев стимулирования.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199632" y="1261872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3F8FC"/>
          </a:solidFill>
          <a:ln w="13970">
            <a:solidFill>
              <a:srgbClr val="C8D6E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99632" y="1261872"/>
            <a:ext cx="82296" cy="196596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173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Предлагаемое решение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1883664"/>
            <a:ext cx="489204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Одобрить модель и провести её как пилот в 2026–2027 учебном году.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Назначить координатора и утвердить состав совета.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Включить обязательный минимум участия педагогов в план методической работы.</a:t>
            </a:r>
            <a:endParaRPr lang="en-US" sz="1270" dirty="0"/>
          </a:p>
          <a:p>
            <a:pPr marL="152400" indent="-152400">
              <a:buSzPct val="100000"/>
              <a:buChar char="•"/>
            </a:pPr>
            <a:r>
              <a:rPr lang="en-US" sz="1270" dirty="0">
                <a:solidFill>
                  <a:srgbClr val="44546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Провести промежуточный анализ в январе и итоговый — в июне.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6199632" y="3520440"/>
            <a:ext cx="5321808" cy="2176272"/>
          </a:xfrm>
          <a:prstGeom prst="roundRect">
            <a:avLst>
              <a:gd name="adj" fmla="val 3361"/>
            </a:avLst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822192"/>
            <a:ext cx="4645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первого года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4407408"/>
            <a:ext cx="4462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Не доказать, что школа умеет проводить много мероприятий, а создать устойчивый механизм, при котором талант ребёнка замечают вовремя, поддерживают без перегрузки и доводят до самостоятельного результата.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5943600"/>
            <a:ext cx="6355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A7F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«Замечать. Пробовать. Развивать. Создавать.»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5029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D7E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МОУ СОШ №20 г. Твери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ШНОУ «Вектор 20»: рабочая система выявления и поддержки талантливых детей</dc:title>
  <dc:subject>Школьное научное общество учащихся «Вектор 20»</dc:subject>
  <dc:creator>МОУ СОШ №20</dc:creator>
  <cp:lastModifiedBy>МОУ СОШ №20</cp:lastModifiedBy>
  <cp:revision>1</cp:revision>
  <dcterms:created xsi:type="dcterms:W3CDTF">2026-07-27T07:24:35Z</dcterms:created>
  <dcterms:modified xsi:type="dcterms:W3CDTF">2026-07-27T07:24:35Z</dcterms:modified>
</cp:coreProperties>
</file>